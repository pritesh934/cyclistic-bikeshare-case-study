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6"/>
    <p:sldId id="261" r:id="rId7"/>
    <p:sldId id="267" r:id="rId8"/>
    <p:sldId id="260" r:id="rId9"/>
    <p:sldId id="268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8769A-2922-249B-DA93-E3DAB7E05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339554-53EB-BCD5-76C6-77BE20A5F0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39E5EE-2E20-5789-195D-78297AA19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BD900-7052-4AA4-AE68-920EFEC641DD}" type="datetimeFigureOut">
              <a:rPr lang="en-AE" smtClean="0"/>
              <a:t>01/06/2026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D5E2C2-E8C8-92EE-88D1-ECA537EEB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A3DEF8-CBC3-E707-999E-2D2C2B3D2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E7F09-02E2-4EA2-8C41-441D80F230F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443661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BC5D8-13F2-3856-34E6-B9C1F8C34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6110D-29E1-5C63-9F4D-098E0C725C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CE1298-F624-DD4E-E486-9EBB2D169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BD900-7052-4AA4-AE68-920EFEC641DD}" type="datetimeFigureOut">
              <a:rPr lang="en-AE" smtClean="0"/>
              <a:t>01/06/2026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4918D4-5CE3-8DEF-6BCB-A37CE7713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B8899-BA61-2A1C-C56E-94ED0CB97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E7F09-02E2-4EA2-8C41-441D80F230F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5394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F347D-27E8-B9AE-97F7-1801C75B1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149471-FB06-EB5D-1804-4C338FE87F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BB2B61-8BF0-D744-BC8E-352BB2CF2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BD900-7052-4AA4-AE68-920EFEC641DD}" type="datetimeFigureOut">
              <a:rPr lang="en-AE" smtClean="0"/>
              <a:t>01/06/2026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3DAB5-8DD6-153D-853B-81CADDB2C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C28AFC-8791-CAEC-9CD0-570F4B417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E7F09-02E2-4EA2-8C41-441D80F230F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607431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56859-3BC6-7C11-C880-6F2CC3ACA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C3C94-7D5B-6D7E-2E24-C7F5F2F0D0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7C48B1-BB4D-B6D7-BF29-E70233A9D8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91A148-5AE5-3533-14F5-59F119354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BD900-7052-4AA4-AE68-920EFEC641DD}" type="datetimeFigureOut">
              <a:rPr lang="en-AE" smtClean="0"/>
              <a:t>01/06/2026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BEC995-A387-3720-CC52-0BE3F2CDB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D5AD5D-CF5C-F42E-9A4A-D606C45A2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E7F09-02E2-4EA2-8C41-441D80F230F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660526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19297-02FE-0B75-27A7-F6FB938FC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A802D8-B147-C92A-356D-4428EDBA61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7FC4C2-D426-4096-5524-4494BF2445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176BCF-E92D-A907-D2C9-669ECF0DD2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5A0ECE-DE72-60F0-41FC-9347E09029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A197E5-085C-4B39-9CC1-543B1EDF0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BD900-7052-4AA4-AE68-920EFEC641DD}" type="datetimeFigureOut">
              <a:rPr lang="en-AE" smtClean="0"/>
              <a:t>01/06/2026</a:t>
            </a:fld>
            <a:endParaRPr lang="en-A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11AC92-5733-A155-F6DD-198EB02BA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3890BC-3837-50DC-9657-2731DC67D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E7F09-02E2-4EA2-8C41-441D80F230F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561042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82D61-1F8E-ADD1-856B-C2DF80B55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F8B84C-4A55-10F5-82CF-0FEDC0B3A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BD900-7052-4AA4-AE68-920EFEC641DD}" type="datetimeFigureOut">
              <a:rPr lang="en-AE" smtClean="0"/>
              <a:t>01/06/2026</a:t>
            </a:fld>
            <a:endParaRPr lang="en-A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745005-375F-CAE8-D7A3-D5849D3F0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1083F4-361B-2A2A-88C3-4EC65BE4D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E7F09-02E2-4EA2-8C41-441D80F230F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556648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0D114C-331D-954A-E23A-A84E8D02E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BD900-7052-4AA4-AE68-920EFEC641DD}" type="datetimeFigureOut">
              <a:rPr lang="en-AE" smtClean="0"/>
              <a:t>01/06/2026</a:t>
            </a:fld>
            <a:endParaRPr lang="en-A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7D141D-96C0-0DB6-FD94-19B04552E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806DBF-0715-490C-06AF-0DBCC9DBD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E7F09-02E2-4EA2-8C41-441D80F230F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556999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9F567-32FF-FA3A-417F-F6C50A2CF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6D274-9EF6-0B3B-88AE-D72875B07D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4F4863-0A61-6234-39D1-815D5862BD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EDF473-F6DE-AF32-8450-94FD58CFC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BD900-7052-4AA4-AE68-920EFEC641DD}" type="datetimeFigureOut">
              <a:rPr lang="en-AE" smtClean="0"/>
              <a:t>01/06/2026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66B268-B2B8-4CF5-7A0C-7B2D7F451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72B1DE-35D5-E69D-0866-E11254B03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E7F09-02E2-4EA2-8C41-441D80F230F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959714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8A7C2-8C9B-53DD-019D-F6A8944DF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9E1491-83F3-EB15-443C-7C797EAFE7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83C9C9-4705-0E5D-B4BA-B2F9E2A42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4329B3-3A65-EAEF-FDE1-968157A9A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BD900-7052-4AA4-AE68-920EFEC641DD}" type="datetimeFigureOut">
              <a:rPr lang="en-AE" smtClean="0"/>
              <a:t>01/06/2026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8FF856-9C7A-89BB-665C-A1A9B8132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E89AF3-5E83-87BE-70CE-8D197ED9C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E7F09-02E2-4EA2-8C41-441D80F230F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042106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AEAD3-A12F-0A3D-1B71-54BF8AD70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332DCC-BA1E-7E0C-7CB4-A2D5CE9194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35960-24FB-E4D8-D5E1-7D0019B4E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BD900-7052-4AA4-AE68-920EFEC641DD}" type="datetimeFigureOut">
              <a:rPr lang="en-AE" smtClean="0"/>
              <a:t>01/06/2026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2CDD34-D392-0187-4F64-46ABC5A66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0A9E93-C59A-0B22-E432-D1DD926F3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E7F09-02E2-4EA2-8C41-441D80F230F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814226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D0A0B3-91B9-B8F5-D6AC-9E35A56BEC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59E43B-9747-EB3B-9A69-D48FC838BE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0D43A3-6FFB-148D-F2B9-B6BBDEB4E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BD900-7052-4AA4-AE68-920EFEC641DD}" type="datetimeFigureOut">
              <a:rPr lang="en-AE" smtClean="0"/>
              <a:t>01/06/2026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6BC573-D7B8-2923-ECDE-A05FE3535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364929-BD2D-9618-99F8-F7BCF52CB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E7F09-02E2-4EA2-8C41-441D80F230F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962815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A340E6-9D34-E006-2C56-00D6D6054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D1CBAD-635D-2508-D589-EAAFCF7361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95DC97-2649-C434-940C-9AE79A5640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4BD900-7052-4AA4-AE68-920EFEC641DD}" type="datetimeFigureOut">
              <a:rPr lang="en-AE" smtClean="0"/>
              <a:t>01/06/2026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8F6147-E14F-B6F2-42C8-0E405F0079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88782C-B1F3-2618-C1F9-768DB6B23E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EE7F09-02E2-4EA2-8C41-441D80F230F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376903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88801-9A10-E6C0-D55B-2A892752A6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3400" b="1" dirty="0" err="1">
                <a:solidFill>
                  <a:srgbClr val="FFFFFF"/>
                </a:solidFill>
              </a:rPr>
              <a:t>Cyclistic</a:t>
            </a:r>
            <a:r>
              <a:rPr lang="en-US" sz="3400" b="1" dirty="0">
                <a:solidFill>
                  <a:srgbClr val="FFFFFF"/>
                </a:solidFill>
              </a:rPr>
              <a:t> Bike-Share: Data-Driven Conversion Strategy Understanding User Behavior to Drive High-Margin Membership Growth</a:t>
            </a:r>
            <a:br>
              <a:rPr lang="en-US" sz="3400" dirty="0">
                <a:solidFill>
                  <a:srgbClr val="FFFFFF"/>
                </a:solidFill>
              </a:rPr>
            </a:br>
            <a:br>
              <a:rPr lang="en-US" sz="3400" dirty="0">
                <a:solidFill>
                  <a:srgbClr val="FFFFFF"/>
                </a:solidFill>
              </a:rPr>
            </a:br>
            <a:endParaRPr lang="en-AE" sz="34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76063D-5585-FB69-885D-B9EF37DE70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3143" y="4870824"/>
            <a:ext cx="11254153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sz="2300" b="1" i="1" dirty="0"/>
              <a:t>Presented by: Pritesh Das (Junior Data Analyst, Marketing Analytics Team, </a:t>
            </a:r>
            <a:r>
              <a:rPr lang="en-US" sz="2300" b="1" i="1" dirty="0" err="1"/>
              <a:t>Cyclistic</a:t>
            </a:r>
            <a:r>
              <a:rPr lang="en-US" sz="2300" b="1" i="1" dirty="0"/>
              <a:t>)</a:t>
            </a:r>
            <a:endParaRPr lang="en-AE" sz="2300" b="1" dirty="0"/>
          </a:p>
        </p:txBody>
      </p:sp>
    </p:spTree>
    <p:extLst>
      <p:ext uri="{BB962C8B-B14F-4D97-AF65-F5344CB8AC3E}">
        <p14:creationId xmlns:p14="http://schemas.microsoft.com/office/powerpoint/2010/main" val="2086147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E0612A-7C06-BAEF-0E53-EB218EAC8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🎯 The Mission &amp; Business Task</a:t>
            </a:r>
            <a:endParaRPr lang="en-AE" b="1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A56B4-059F-1696-0B21-AEC1AB82C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1" u="sng"/>
              <a:t>Shifting Focus from Broad Awareness to High-Margin Conversion:</a:t>
            </a:r>
          </a:p>
          <a:p>
            <a:r>
              <a:rPr lang="en-AE" sz="2000"/>
              <a:t>The Executive Mandate: </a:t>
            </a:r>
            <a:r>
              <a:rPr lang="en-US" sz="2000"/>
              <a:t>The Director of Marketing, Lily Moreno, has identified that </a:t>
            </a:r>
            <a:r>
              <a:rPr lang="en-US" sz="2000" err="1"/>
              <a:t>Cyclistic's</a:t>
            </a:r>
            <a:r>
              <a:rPr lang="en-US" sz="2000"/>
              <a:t> future success depends entirely on maximizing the number of annual memberships. </a:t>
            </a:r>
          </a:p>
          <a:p>
            <a:r>
              <a:rPr lang="en-US" sz="2000" b="1"/>
              <a:t>The Strategic Shift:</a:t>
            </a:r>
            <a:r>
              <a:rPr lang="en-US" sz="2000"/>
              <a:t> Moving away from broad brand awareness campaigns to target </a:t>
            </a:r>
            <a:r>
              <a:rPr lang="en-US" sz="2000" b="1"/>
              <a:t>casual riders</a:t>
            </a:r>
            <a:r>
              <a:rPr lang="en-US" sz="2000"/>
              <a:t> (single/full-day pass holders) who are already familiar with our service and represent a high-potential segment for growth.</a:t>
            </a:r>
          </a:p>
          <a:p>
            <a:r>
              <a:rPr lang="en-US" sz="2000" b="1"/>
              <a:t>The Core Analytical Question: </a:t>
            </a:r>
            <a:r>
              <a:rPr lang="en-US" sz="2000" i="1"/>
              <a:t>"How do annual members and casual riders use </a:t>
            </a:r>
            <a:r>
              <a:rPr lang="en-US" sz="2000" i="1" err="1"/>
              <a:t>Cyclistic</a:t>
            </a:r>
            <a:r>
              <a:rPr lang="en-US" sz="2000" i="1"/>
              <a:t> bikes differently?“</a:t>
            </a:r>
          </a:p>
          <a:p>
            <a:r>
              <a:rPr lang="en-US" sz="2000" b="1"/>
              <a:t>The Goal:</a:t>
            </a:r>
            <a:r>
              <a:rPr lang="en-US" sz="2000"/>
              <a:t> Deliver compelling, data-backed insights and visualizations to design a marketing playbook approved by the executive team.</a:t>
            </a:r>
          </a:p>
          <a:p>
            <a:endParaRPr lang="en-AE" sz="2000"/>
          </a:p>
        </p:txBody>
      </p:sp>
    </p:spTree>
    <p:extLst>
      <p:ext uri="{BB962C8B-B14F-4D97-AF65-F5344CB8AC3E}">
        <p14:creationId xmlns:p14="http://schemas.microsoft.com/office/powerpoint/2010/main" val="707520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A03CD7-3AAE-F465-29E9-90E29F5B3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⚙️ Data Pipeline &amp; Technical Rigor</a:t>
            </a:r>
            <a:endParaRPr lang="en-AE" b="1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535D5-AEBD-99A9-8209-2BE7438E80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 b="1" u="sng"/>
              <a:t>Building an Airtight Foundation for Strategic Decisions:</a:t>
            </a:r>
          </a:p>
          <a:p>
            <a:r>
              <a:rPr lang="en-US" sz="1800" b="1"/>
              <a:t>Data Scale:</a:t>
            </a:r>
            <a:r>
              <a:rPr lang="en-US" sz="1800"/>
              <a:t> Analyzed a massive public dataset encompassing a full calendar year of historical trip logs (January 2024 to December 2024).</a:t>
            </a:r>
          </a:p>
          <a:p>
            <a:r>
              <a:rPr lang="en-US" sz="1800" b="1"/>
              <a:t>Advanced Processing:</a:t>
            </a:r>
            <a:r>
              <a:rPr lang="en-US" sz="1800"/>
              <a:t> Utilized </a:t>
            </a:r>
            <a:r>
              <a:rPr lang="en-US" sz="1800" b="1"/>
              <a:t>SQL Server Management Studio (SSMS 22)</a:t>
            </a:r>
            <a:r>
              <a:rPr lang="en-US" sz="1800"/>
              <a:t> to check schema consistency and execute UNION ALL consolidation across 12 monthly transaction files.</a:t>
            </a:r>
          </a:p>
          <a:p>
            <a:r>
              <a:rPr lang="en-US" sz="1800" b="1"/>
              <a:t>Data Cleansing &amp; Integrity: </a:t>
            </a:r>
            <a:r>
              <a:rPr lang="en-US" sz="1800"/>
              <a:t>Systematically isolated and removed </a:t>
            </a:r>
            <a:r>
              <a:rPr lang="en-US" sz="1800" b="1"/>
              <a:t>1,496,735 rows</a:t>
            </a:r>
            <a:r>
              <a:rPr lang="en-US" sz="1800"/>
              <a:t> containing null or missing values and Engineered new time-delta features: </a:t>
            </a:r>
            <a:r>
              <a:rPr lang="en-US" sz="1800" err="1"/>
              <a:t>avg_ride_length_in_seconds</a:t>
            </a:r>
            <a:r>
              <a:rPr lang="en-US" sz="1800"/>
              <a:t>, </a:t>
            </a:r>
            <a:r>
              <a:rPr lang="en-US" sz="1800" err="1"/>
              <a:t>day_of_week</a:t>
            </a:r>
            <a:r>
              <a:rPr lang="en-US" sz="1800"/>
              <a:t>, and month. </a:t>
            </a:r>
          </a:p>
          <a:p>
            <a:r>
              <a:rPr lang="en-US" sz="1800" b="1"/>
              <a:t>Anomalous Outlier Filtration:</a:t>
            </a:r>
            <a:r>
              <a:rPr lang="en-US" sz="1800"/>
              <a:t> Excluded trips under 1 minute (false starts/docking adjustments) and over 24 hours (lost/unreturned equipment) to eliminate metric skew. </a:t>
            </a:r>
          </a:p>
          <a:p>
            <a:r>
              <a:rPr lang="en-US" sz="1800" b="1"/>
              <a:t>Final Verified Audited Dataset:</a:t>
            </a:r>
            <a:r>
              <a:rPr lang="en-US" sz="1800"/>
              <a:t> </a:t>
            </a:r>
            <a:r>
              <a:rPr lang="en-US" sz="1800" b="1"/>
              <a:t>4,224,062 clean rows</a:t>
            </a:r>
            <a:r>
              <a:rPr lang="en-US" sz="1800"/>
              <a:t> optimized for analytics.</a:t>
            </a:r>
          </a:p>
          <a:p>
            <a:endParaRPr lang="en-AE" sz="1800" b="1" u="sng"/>
          </a:p>
        </p:txBody>
      </p:sp>
    </p:spTree>
    <p:extLst>
      <p:ext uri="{BB962C8B-B14F-4D97-AF65-F5344CB8AC3E}">
        <p14:creationId xmlns:p14="http://schemas.microsoft.com/office/powerpoint/2010/main" val="351624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DE918F-FE2B-CCAF-F348-3459D1381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  <a:prstGeom prst="ellipse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0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1</a:t>
            </a:r>
            <a:r>
              <a:rPr lang="en-US" sz="3000" kern="1200" baseline="300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st</a:t>
            </a:r>
            <a:r>
              <a:rPr lang="en-US" sz="30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6457039-CEDF-F5CC-6D4E-BD759A5019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1056" y="1675227"/>
            <a:ext cx="9449888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438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7257BF-43DB-B7DA-DE33-F42484558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9"/>
            <a:ext cx="9895951" cy="861022"/>
          </a:xfrm>
        </p:spPr>
        <p:txBody>
          <a:bodyPr>
            <a:normAutofit fontScale="90000"/>
          </a:bodyPr>
          <a:lstStyle/>
          <a:p>
            <a:r>
              <a:rPr lang="en-US" sz="3400" b="1" dirty="0">
                <a:solidFill>
                  <a:srgbClr val="FFFFFF"/>
                </a:solidFill>
              </a:rPr>
              <a:t>Key Insights — Volume, Duration, and Fleet Preferences (1</a:t>
            </a:r>
            <a:r>
              <a:rPr lang="en-US" sz="3400" b="1" baseline="30000" dirty="0">
                <a:solidFill>
                  <a:srgbClr val="FFFFFF"/>
                </a:solidFill>
              </a:rPr>
              <a:t>st</a:t>
            </a:r>
            <a:r>
              <a:rPr lang="en-US" sz="3400" b="1" dirty="0">
                <a:solidFill>
                  <a:srgbClr val="FFFFFF"/>
                </a:solidFill>
              </a:rPr>
              <a:t> Dashboard)</a:t>
            </a:r>
            <a:endParaRPr lang="en-AE" sz="3400" b="1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DF60D-0D60-CFC8-1957-D645FDEE7B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3" y="1691148"/>
            <a:ext cx="12192003" cy="5166851"/>
          </a:xfrm>
        </p:spPr>
        <p:txBody>
          <a:bodyPr anchor="ctr">
            <a:normAutofit fontScale="70000" lnSpcReduction="20000"/>
          </a:bodyPr>
          <a:lstStyle/>
          <a:p>
            <a:pPr marL="0" indent="0" algn="just">
              <a:buNone/>
            </a:pPr>
            <a:r>
              <a:rPr lang="en-US" sz="2300" b="1" u="sng" dirty="0"/>
              <a:t>Total Rides and Market Share</a:t>
            </a:r>
          </a:p>
          <a:p>
            <a:pPr algn="just"/>
            <a:r>
              <a:rPr lang="en-US" sz="2300" dirty="0"/>
              <a:t>Annual members drive the core volume, </a:t>
            </a:r>
            <a:r>
              <a:rPr lang="en-US" sz="2300" b="1" dirty="0"/>
              <a:t>completing 3,640,912 trips, which accounts for 63.64% of total ridership.</a:t>
            </a:r>
          </a:p>
          <a:p>
            <a:pPr algn="just"/>
            <a:r>
              <a:rPr lang="en-US" sz="2300" dirty="0"/>
              <a:t>Casual riders account for a strong secondary market share of </a:t>
            </a:r>
            <a:r>
              <a:rPr lang="en-US" sz="2300" b="1" dirty="0"/>
              <a:t>36.36%, executing 2,079,885 trips.</a:t>
            </a:r>
          </a:p>
          <a:p>
            <a:pPr marL="0" indent="0" algn="just">
              <a:buNone/>
            </a:pPr>
            <a:r>
              <a:rPr lang="en-US" sz="2300" b="1" u="sng" dirty="0"/>
              <a:t>Weekly Ride Duration Trends</a:t>
            </a:r>
          </a:p>
          <a:p>
            <a:pPr algn="just"/>
            <a:r>
              <a:rPr lang="en-US" sz="2300" dirty="0"/>
              <a:t>Casual riders consistently cycle for longer durations than members every single day of the week.</a:t>
            </a:r>
          </a:p>
          <a:p>
            <a:pPr algn="just"/>
            <a:r>
              <a:rPr lang="en-US" sz="2300" dirty="0"/>
              <a:t>Casual trip duration peaks sharply on </a:t>
            </a:r>
            <a:r>
              <a:rPr lang="en-US" sz="2300" b="1" dirty="0"/>
              <a:t>Sundays at 1,293 seconds (21.55 minutes) and Saturdays at 1,255.9 seconds (20.93 minutes).</a:t>
            </a:r>
          </a:p>
          <a:p>
            <a:pPr algn="just">
              <a:lnSpc>
                <a:spcPct val="120000"/>
              </a:lnSpc>
            </a:pPr>
            <a:r>
              <a:rPr lang="en-US" sz="2300" dirty="0"/>
              <a:t>Member trip duration remains incredibly flat and steady, peaking slightly on </a:t>
            </a:r>
            <a:r>
              <a:rPr lang="en-US" sz="2300" b="1" dirty="0"/>
              <a:t>Sundays at 772.7 seconds (12.87 minutes) and Saturdays at 772 seconds (12.86 minutes).</a:t>
            </a:r>
          </a:p>
          <a:p>
            <a:pPr marL="0" indent="0" algn="just">
              <a:buNone/>
            </a:pPr>
            <a:r>
              <a:rPr lang="en-US" sz="2300" b="1" u="sng" dirty="0"/>
              <a:t>Monthly Duration and Seasonality</a:t>
            </a:r>
          </a:p>
          <a:p>
            <a:pPr algn="just">
              <a:lnSpc>
                <a:spcPct val="120000"/>
              </a:lnSpc>
            </a:pPr>
            <a:r>
              <a:rPr lang="en-US" sz="2300" dirty="0"/>
              <a:t>Both user segments experience their longest individual trip lengths in June, </a:t>
            </a:r>
            <a:r>
              <a:rPr lang="en-US" sz="2300" b="1" dirty="0"/>
              <a:t>with casual riders reaching an average maximum of 1,388.1 seconds (23.13 minutes) and members peaking at 810.3 seconds (13.50 minutes).</a:t>
            </a:r>
          </a:p>
          <a:p>
            <a:pPr algn="just"/>
            <a:r>
              <a:rPr lang="en-US" sz="2300" dirty="0"/>
              <a:t>Trip lengths for both groups decline significantly during winter, bottoming out around November and December.</a:t>
            </a:r>
          </a:p>
          <a:p>
            <a:pPr marL="0" indent="0" algn="just">
              <a:buNone/>
            </a:pPr>
            <a:r>
              <a:rPr lang="en-US" sz="2300" b="1" u="sng" dirty="0"/>
              <a:t>Fleet and Asset Preferences</a:t>
            </a:r>
          </a:p>
          <a:p>
            <a:pPr algn="just"/>
            <a:r>
              <a:rPr lang="en-US" sz="2300" dirty="0"/>
              <a:t>Both customer cohorts show a clear preference for electric bicycles over classic, traditional models.</a:t>
            </a:r>
          </a:p>
          <a:p>
            <a:pPr algn="just"/>
            <a:r>
              <a:rPr lang="en-US" sz="2300" dirty="0"/>
              <a:t>For electric bikes, </a:t>
            </a:r>
            <a:r>
              <a:rPr lang="en-US" sz="2300" b="1" dirty="0"/>
              <a:t>annual members logged 1,835,262 trips while casual riders completed 1,033,427 trips.</a:t>
            </a:r>
          </a:p>
          <a:p>
            <a:pPr algn="just"/>
            <a:r>
              <a:rPr lang="en-US" sz="2300" dirty="0"/>
              <a:t>For classic bikes, </a:t>
            </a:r>
            <a:r>
              <a:rPr lang="en-US" sz="2300" b="1" dirty="0"/>
              <a:t>annual members logged 1,749,527 trips compared to 965,026 trips by casual riders.</a:t>
            </a:r>
          </a:p>
          <a:p>
            <a:pPr algn="just"/>
            <a:r>
              <a:rPr lang="en-US" sz="2300" dirty="0"/>
              <a:t>Electric scooters represent a notable micromobility niche, where casual riders out-utilize members.</a:t>
            </a:r>
          </a:p>
          <a:p>
            <a:endParaRPr lang="en-AE" sz="800" dirty="0"/>
          </a:p>
        </p:txBody>
      </p:sp>
    </p:spTree>
    <p:extLst>
      <p:ext uri="{BB962C8B-B14F-4D97-AF65-F5344CB8AC3E}">
        <p14:creationId xmlns:p14="http://schemas.microsoft.com/office/powerpoint/2010/main" val="2040203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EC2F5B-867D-68CB-9F9A-C88241A47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2</a:t>
            </a:r>
            <a:r>
              <a:rPr lang="en-US" sz="4000" kern="1200" baseline="300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nd</a:t>
            </a: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332C52B-4B71-B269-62FB-25FD3D8CDC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4070" y="1966293"/>
            <a:ext cx="10663858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0738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E48A67-416B-FEE4-7E5D-D1F1EFB82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3400" b="1">
                <a:solidFill>
                  <a:srgbClr val="FFFFFF"/>
                </a:solidFill>
              </a:rPr>
              <a:t>Key Insights — Ride Duration, Weekly Volume, and Monthly Trends (2</a:t>
            </a:r>
            <a:r>
              <a:rPr lang="en-US" sz="3400" b="1" baseline="30000">
                <a:solidFill>
                  <a:srgbClr val="FFFFFF"/>
                </a:solidFill>
              </a:rPr>
              <a:t>nd</a:t>
            </a:r>
            <a:r>
              <a:rPr lang="en-US" sz="3400" b="1">
                <a:solidFill>
                  <a:srgbClr val="FFFFFF"/>
                </a:solidFill>
              </a:rPr>
              <a:t> Dashboard)</a:t>
            </a:r>
            <a:endParaRPr lang="en-AE" sz="3400" b="1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114AB-EAD2-2B62-9B94-2CA5458C6C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" y="1597432"/>
            <a:ext cx="12192003" cy="5260568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u="sng" dirty="0"/>
              <a:t>Overall Average Ride Duration</a:t>
            </a:r>
          </a:p>
          <a:p>
            <a:r>
              <a:rPr lang="en-US" sz="1700" dirty="0"/>
              <a:t>Casual riders display significantly higher individual asset engagement, </a:t>
            </a:r>
            <a:r>
              <a:rPr lang="en-US" sz="1700" b="1" dirty="0"/>
              <a:t>averaging 1,131.1 seconds (~18.85 mins) per trip.</a:t>
            </a:r>
          </a:p>
          <a:p>
            <a:r>
              <a:rPr lang="en-US" sz="1700" dirty="0"/>
              <a:t>Annual member rides </a:t>
            </a:r>
            <a:r>
              <a:rPr lang="en-US" sz="1700" b="1" dirty="0"/>
              <a:t>average 716.8 seconds (~11.94 mins)</a:t>
            </a:r>
            <a:r>
              <a:rPr lang="en-US" sz="1700" dirty="0"/>
              <a:t>, indicating a point-to-point utility commute pattern.</a:t>
            </a:r>
          </a:p>
          <a:p>
            <a:pPr marL="0" indent="0">
              <a:buNone/>
            </a:pPr>
            <a:r>
              <a:rPr lang="en-US" sz="1700" b="1" u="sng" dirty="0"/>
              <a:t>Weekly Ridership Volume</a:t>
            </a:r>
          </a:p>
          <a:p>
            <a:r>
              <a:rPr lang="en-US" sz="1700" dirty="0"/>
              <a:t>Annual members provide consistent, high-volume fleet activity throughout the standard workweek, </a:t>
            </a:r>
            <a:r>
              <a:rPr lang="en-US" sz="1700" b="1" dirty="0"/>
              <a:t>peaking sharply on Wednesdays with 599,343 rides.</a:t>
            </a:r>
          </a:p>
          <a:p>
            <a:r>
              <a:rPr lang="en-US" sz="1700" dirty="0"/>
              <a:t>Member activity drops to its </a:t>
            </a:r>
            <a:r>
              <a:rPr lang="en-US" sz="1700" b="1" dirty="0"/>
              <a:t>lowest weekly level on Sundays with 408,905 rides</a:t>
            </a:r>
            <a:r>
              <a:rPr lang="en-US" sz="1700" dirty="0"/>
              <a:t>.</a:t>
            </a:r>
          </a:p>
          <a:p>
            <a:r>
              <a:rPr lang="en-US" sz="1700" dirty="0"/>
              <a:t>Casual riders show a distinct preference for weekend usage, surging to their </a:t>
            </a:r>
            <a:r>
              <a:rPr lang="en-US" sz="1700" b="1" dirty="0"/>
              <a:t>highest weekly volume on Saturdays with 429,321 rides.</a:t>
            </a:r>
          </a:p>
          <a:p>
            <a:r>
              <a:rPr lang="en-US" sz="1700" dirty="0"/>
              <a:t>Casual activity drops to its </a:t>
            </a:r>
            <a:r>
              <a:rPr lang="en-US" sz="1700" b="1" dirty="0"/>
              <a:t>lowest weekly point on Tuesdays with 225,452 rides.</a:t>
            </a:r>
          </a:p>
          <a:p>
            <a:pPr marL="0" indent="0">
              <a:buNone/>
            </a:pPr>
            <a:r>
              <a:rPr lang="en-US" sz="1700" b="1" u="sng" dirty="0"/>
              <a:t>Monthly Volumetric Trends</a:t>
            </a:r>
          </a:p>
          <a:p>
            <a:r>
              <a:rPr lang="en-US" sz="1700" dirty="0"/>
              <a:t>Both customer segments experience their lowest service utilization in January, </a:t>
            </a:r>
            <a:r>
              <a:rPr lang="en-US" sz="1700" b="1" dirty="0"/>
              <a:t>with annual members at 116,518 rides and casual riders at 23,642 rides.</a:t>
            </a:r>
          </a:p>
          <a:p>
            <a:r>
              <a:rPr lang="en-US" sz="1700" dirty="0"/>
              <a:t>Ridership increases steadily during the warmer spring and summer months for both groups.</a:t>
            </a:r>
          </a:p>
          <a:p>
            <a:r>
              <a:rPr lang="en-US" sz="1700" dirty="0"/>
              <a:t>Casual riders reach their </a:t>
            </a:r>
            <a:r>
              <a:rPr lang="en-US" sz="1700" b="1" dirty="0"/>
              <a:t>absolute highest peak of the year in September with 334,182 rides.</a:t>
            </a:r>
          </a:p>
          <a:p>
            <a:r>
              <a:rPr lang="en-US" sz="1700" dirty="0"/>
              <a:t>Annual members </a:t>
            </a:r>
            <a:r>
              <a:rPr lang="en-US" sz="1700" b="1" dirty="0"/>
              <a:t>maximize their total monthly volume in July with 465,582 rides.</a:t>
            </a:r>
          </a:p>
          <a:p>
            <a:endParaRPr lang="en-AE" sz="1100" dirty="0"/>
          </a:p>
        </p:txBody>
      </p:sp>
    </p:spTree>
    <p:extLst>
      <p:ext uri="{BB962C8B-B14F-4D97-AF65-F5344CB8AC3E}">
        <p14:creationId xmlns:p14="http://schemas.microsoft.com/office/powerpoint/2010/main" val="18092071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85C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85765E-BAF7-FF78-C835-C52DCC95F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3</a:t>
            </a:r>
            <a:r>
              <a:rPr lang="en-US" sz="2600" kern="1200" baseline="300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rd</a:t>
            </a:r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CF56492-6728-0881-90FD-DE5E124155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8600" y="1441565"/>
            <a:ext cx="7188199" cy="397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4115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E967A5-004C-B9BE-3779-1A5ACB5D1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</a:rPr>
              <a:t>Key Insights — Hourly Ride Length Dynamics</a:t>
            </a:r>
            <a:endParaRPr lang="en-AE" sz="4000" b="1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54AD1-E984-AAFA-DD45-7AEEB315EA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7826" y="10138"/>
            <a:ext cx="8151125" cy="6847857"/>
          </a:xfrm>
        </p:spPr>
        <p:txBody>
          <a:bodyPr anchor="ctr">
            <a:normAutofit fontScale="92500" lnSpcReduction="10000"/>
          </a:bodyPr>
          <a:lstStyle/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r>
              <a:rPr lang="en-US" sz="1800" b="1" u="sng" dirty="0"/>
              <a:t>Casual User Hourly Behavior</a:t>
            </a:r>
          </a:p>
          <a:p>
            <a:r>
              <a:rPr lang="en-US" sz="1800" dirty="0"/>
              <a:t>Casual riders maintain a significantly higher average trip duration than members across every single hour of the day.</a:t>
            </a:r>
          </a:p>
          <a:p>
            <a:r>
              <a:rPr lang="en-US" sz="1800" dirty="0"/>
              <a:t>Casual riders record their absolute longest average rides during the midday window, peaking at </a:t>
            </a:r>
            <a:r>
              <a:rPr lang="en-US" sz="1800" b="1" dirty="0"/>
              <a:t>11:00 AM with an average of 1,382.8 seconds (~23.05 minutes).</a:t>
            </a:r>
          </a:p>
          <a:p>
            <a:r>
              <a:rPr lang="en-US" sz="1800" dirty="0"/>
              <a:t>A secondary high-duration plateau is sustained for casual riders throughout the afternoon, </a:t>
            </a:r>
            <a:r>
              <a:rPr lang="en-US" sz="1800" b="1" dirty="0"/>
              <a:t>remaining above 1,300 seconds from 10:00 AM through 2:00 PM (14:00).</a:t>
            </a:r>
          </a:p>
          <a:p>
            <a:r>
              <a:rPr lang="en-US" sz="1800" dirty="0"/>
              <a:t>The shortest average trips for casual riders occur in the early morning, </a:t>
            </a:r>
            <a:r>
              <a:rPr lang="en-US" sz="1800" b="1" dirty="0"/>
              <a:t>hitting a low of 852.9 seconds (~14.22 minutes) at 6:00 AM.</a:t>
            </a:r>
          </a:p>
          <a:p>
            <a:pPr marL="0" indent="0">
              <a:buNone/>
            </a:pPr>
            <a:r>
              <a:rPr lang="en-US" sz="1800" b="1" u="sng" dirty="0"/>
              <a:t>Annual Member Hourly Behavior</a:t>
            </a:r>
          </a:p>
          <a:p>
            <a:r>
              <a:rPr lang="en-US" sz="1800" dirty="0"/>
              <a:t>Annual members exhibit a highly stable and flat trip duration baseline, </a:t>
            </a:r>
            <a:r>
              <a:rPr lang="en-US" sz="1800" b="1" dirty="0"/>
              <a:t>remaining between 660 and 780 seconds throughout the entire 24-hour cycle.</a:t>
            </a:r>
          </a:p>
          <a:p>
            <a:r>
              <a:rPr lang="en-US" sz="1800" dirty="0"/>
              <a:t>Members reach their maximum average trip duration during the evening commute window, </a:t>
            </a:r>
            <a:r>
              <a:rPr lang="en-US" sz="1800" b="1" dirty="0"/>
              <a:t>peaking at 5:00 PM (17:00) with 775.7 seconds (~12.93 minutes).</a:t>
            </a:r>
          </a:p>
          <a:p>
            <a:r>
              <a:rPr lang="en-US" sz="1800" dirty="0"/>
              <a:t>Similar to casual riders, members record their shortest average trip durations in the early morning, hitting a floor of 660.1 seconds (11.00 minutes) at 6:00 AM.</a:t>
            </a:r>
          </a:p>
          <a:p>
            <a:pPr marL="0" indent="0">
              <a:buNone/>
            </a:pPr>
            <a:r>
              <a:rPr lang="en-US" sz="1800" b="1" u="sng" dirty="0"/>
              <a:t>Comparative Takeaways</a:t>
            </a:r>
          </a:p>
          <a:p>
            <a:r>
              <a:rPr lang="en-US" sz="1800" b="1" dirty="0"/>
              <a:t>At 11:00 AM</a:t>
            </a:r>
            <a:r>
              <a:rPr lang="en-US" sz="1800" dirty="0"/>
              <a:t>, the casual ride duration gap reaches its widest margin, where casual trips are </a:t>
            </a:r>
            <a:r>
              <a:rPr lang="en-US" sz="1800" b="1" dirty="0"/>
              <a:t>nearly double the length of member trips (1,382.8 seconds vs. 727.2 seconds).</a:t>
            </a:r>
          </a:p>
          <a:p>
            <a:r>
              <a:rPr lang="en-US" sz="1800" b="1" dirty="0"/>
              <a:t>The synchronized 6:00 AM drop for both segments </a:t>
            </a:r>
            <a:r>
              <a:rPr lang="en-US" sz="1800" dirty="0"/>
              <a:t>suggests that early morning riders—regardless of membership status—primarily prioritize fast, direct, and efficient point-to-point travel.</a:t>
            </a:r>
          </a:p>
          <a:p>
            <a:endParaRPr lang="en-AE" sz="1300" dirty="0"/>
          </a:p>
        </p:txBody>
      </p:sp>
    </p:spTree>
    <p:extLst>
      <p:ext uri="{BB962C8B-B14F-4D97-AF65-F5344CB8AC3E}">
        <p14:creationId xmlns:p14="http://schemas.microsoft.com/office/powerpoint/2010/main" val="1328816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89575E1-3389-451A-A5F7-27854C25C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4293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3CCC5C-D88E-40FB-B30B-23DCDBD0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4167268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DF3CE8-2651-926B-98CD-31AC81988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591344"/>
            <a:ext cx="3200400" cy="5585619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🚀 Strategic Playbook Part 1 — Product &amp; Packaging</a:t>
            </a:r>
            <a:endParaRPr lang="en-AE" b="1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86543-BD2F-087F-0ED6-C552FC6C9B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1" u="sng" dirty="0"/>
              <a:t>Meeting Casual Riders Where Their Habits Are:</a:t>
            </a:r>
          </a:p>
          <a:p>
            <a:pPr marL="0" indent="0">
              <a:buNone/>
            </a:pPr>
            <a:r>
              <a:rPr lang="en-US" sz="2000" b="1" u="sng" dirty="0"/>
              <a:t>1. The "Summer Explorer" Tier (Membership Personalization)</a:t>
            </a:r>
          </a:p>
          <a:p>
            <a:r>
              <a:rPr lang="en-US" sz="2000" b="1" i="1" u="sng" dirty="0"/>
              <a:t>The Insight:</a:t>
            </a:r>
            <a:r>
              <a:rPr lang="en-US" sz="2000" b="1" dirty="0"/>
              <a:t> </a:t>
            </a:r>
            <a:r>
              <a:rPr lang="en-US" sz="2000" dirty="0"/>
              <a:t>Casual use spikes dramatically in summer for long, continuous durations. </a:t>
            </a:r>
          </a:p>
          <a:p>
            <a:r>
              <a:rPr lang="en-US" sz="2000" b="1" i="1" u="sng" dirty="0"/>
              <a:t>The Strategy:</a:t>
            </a:r>
            <a:r>
              <a:rPr lang="en-US" sz="2000" b="1" u="sng" dirty="0"/>
              <a:t> </a:t>
            </a:r>
            <a:r>
              <a:rPr lang="en-US" sz="2000" dirty="0"/>
              <a:t>Introduce custom, short-term programmatic subscriptions (monthly passes or seasonal packages) to bridge the financial gap for riders who aren't ready for a 12-month commitment but demand summer volume.</a:t>
            </a:r>
          </a:p>
          <a:p>
            <a:pPr marL="0" indent="0">
              <a:buNone/>
            </a:pPr>
            <a:r>
              <a:rPr lang="en-US" sz="2000" b="1" u="sng" dirty="0"/>
              <a:t>2. Electric Fleet Incentives</a:t>
            </a:r>
          </a:p>
          <a:p>
            <a:r>
              <a:rPr lang="en-US" sz="2000" b="1" i="1" u="sng" dirty="0"/>
              <a:t>The Insight:</a:t>
            </a:r>
            <a:r>
              <a:rPr lang="en-US" sz="2000" b="1" u="sng" dirty="0"/>
              <a:t> </a:t>
            </a:r>
            <a:r>
              <a:rPr lang="en-US" sz="2000" dirty="0"/>
              <a:t>Casual users show an outsized preference for electric bikes and scooters. </a:t>
            </a:r>
          </a:p>
          <a:p>
            <a:r>
              <a:rPr lang="en-US" sz="2000" b="1" i="1" u="sng" dirty="0"/>
              <a:t>The Strategy:</a:t>
            </a:r>
            <a:r>
              <a:rPr lang="en-US" sz="2000" b="1" u="sng" dirty="0"/>
              <a:t> </a:t>
            </a:r>
            <a:r>
              <a:rPr lang="en-US" sz="2000" dirty="0"/>
              <a:t>Introduce member-exclusive benefits for electric fleet options, such as priority app unlocking, free advanced reservations, or lowered per-minute rates, converting asset affinity into membership sign-ups.</a:t>
            </a:r>
            <a:endParaRPr lang="en-AE" sz="2000" b="1" u="sng" dirty="0"/>
          </a:p>
        </p:txBody>
      </p:sp>
    </p:spTree>
    <p:extLst>
      <p:ext uri="{BB962C8B-B14F-4D97-AF65-F5344CB8AC3E}">
        <p14:creationId xmlns:p14="http://schemas.microsoft.com/office/powerpoint/2010/main" val="12229749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89575E1-3389-451A-A5F7-27854C25C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4293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3CCC5C-D88E-40FB-B30B-23DCDBD0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4167268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1E9C45-0270-7B1E-4FD0-142312BBE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591344"/>
            <a:ext cx="3200400" cy="5585619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🚀 Strategic Playbook Part 2 — Engagement &amp; Marketing</a:t>
            </a:r>
            <a:endParaRPr lang="en-AE" b="1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2E1599-19E2-E3EE-7188-6E79F253B9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600" b="1" dirty="0"/>
              <a:t>Data-Timed Digital Outreach &amp; Social Value</a:t>
            </a:r>
          </a:p>
          <a:p>
            <a:pPr marL="0" indent="0">
              <a:buNone/>
            </a:pPr>
            <a:r>
              <a:rPr lang="en-US" sz="1600" b="1" u="sng" dirty="0"/>
              <a:t>3. The "Weekend Warrior" Loyalty Infrastructure</a:t>
            </a:r>
          </a:p>
          <a:p>
            <a:r>
              <a:rPr lang="en-US" sz="1600" b="1" i="1" u="sng" dirty="0"/>
              <a:t>The Insight:</a:t>
            </a:r>
            <a:r>
              <a:rPr lang="en-US" sz="1600" b="1" u="sng" dirty="0"/>
              <a:t> </a:t>
            </a:r>
            <a:r>
              <a:rPr lang="en-US" sz="1600" dirty="0"/>
              <a:t>Casual riders hit maximum volume on Saturdays and Sundays.</a:t>
            </a:r>
          </a:p>
          <a:p>
            <a:r>
              <a:rPr lang="en-US" sz="1600" b="1" i="1" u="sng" dirty="0"/>
              <a:t>The Strategy:</a:t>
            </a:r>
            <a:r>
              <a:rPr lang="en-US" sz="1600" u="sng" dirty="0"/>
              <a:t> </a:t>
            </a:r>
            <a:r>
              <a:rPr lang="en-US" sz="1600" dirty="0"/>
              <a:t>Launch a points-based loyalty program where frequent weekend single-pass and full-day riders automatically accumulate points that can be converted directly into a currency discount toward purchasing a standard annual subscription.</a:t>
            </a:r>
          </a:p>
          <a:p>
            <a:pPr marL="0" indent="0">
              <a:buNone/>
            </a:pPr>
            <a:r>
              <a:rPr lang="en-US" sz="1600" b="1" u="sng" dirty="0"/>
              <a:t>4. Hyper-Targeted Digital Campaigns</a:t>
            </a:r>
          </a:p>
          <a:p>
            <a:r>
              <a:rPr lang="en-US" sz="1600" b="1" i="1" u="sng" dirty="0"/>
              <a:t>The Insight: </a:t>
            </a:r>
            <a:r>
              <a:rPr lang="en-US" sz="1600" dirty="0"/>
              <a:t>Casual users peak heavily on summer weekends around 11:00 AM.</a:t>
            </a:r>
          </a:p>
          <a:p>
            <a:r>
              <a:rPr lang="en-US" sz="1600" b="1" i="1" u="sng" dirty="0"/>
              <a:t>The Strategy:</a:t>
            </a:r>
            <a:r>
              <a:rPr lang="en-US" sz="1600" b="1" u="sng" dirty="0"/>
              <a:t> </a:t>
            </a:r>
            <a:r>
              <a:rPr lang="en-US" sz="1600" dirty="0"/>
              <a:t>Trigger geotargeted digital ads on social media platforms precisely during peak casual windows (Weekends at 11:00 AM, May–September), utilizing user-generated content emphasizing premium lifestyle and recreation. </a:t>
            </a:r>
          </a:p>
          <a:p>
            <a:pPr marL="0" indent="0">
              <a:buNone/>
            </a:pPr>
            <a:r>
              <a:rPr lang="en-US" sz="1600" b="1" u="sng" dirty="0"/>
              <a:t>5. Member-Exclusive Experiential Events</a:t>
            </a:r>
          </a:p>
          <a:p>
            <a:r>
              <a:rPr lang="en-US" sz="1600" b="1" i="1" u="sng" dirty="0"/>
              <a:t>The Strategy:</a:t>
            </a:r>
            <a:r>
              <a:rPr lang="en-US" sz="1600" b="1" u="sng" dirty="0"/>
              <a:t> </a:t>
            </a:r>
            <a:r>
              <a:rPr lang="en-US" sz="1600" dirty="0"/>
              <a:t>Organize exclusive summer community group rides, neighborhood navigation challenges, and urban exploration events to build a strong community aspect around owning a </a:t>
            </a:r>
            <a:r>
              <a:rPr lang="en-US" sz="1600" dirty="0" err="1"/>
              <a:t>Cyclistic</a:t>
            </a:r>
            <a:r>
              <a:rPr lang="en-US" sz="1600" dirty="0"/>
              <a:t> membership.</a:t>
            </a:r>
            <a:endParaRPr lang="en-AE" sz="1600" u="sng" dirty="0"/>
          </a:p>
        </p:txBody>
      </p:sp>
    </p:spTree>
    <p:extLst>
      <p:ext uri="{BB962C8B-B14F-4D97-AF65-F5344CB8AC3E}">
        <p14:creationId xmlns:p14="http://schemas.microsoft.com/office/powerpoint/2010/main" val="1247968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4E5C5C-F171-086C-29F2-FF9A19C9C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Conclusion: The Bottom Line</a:t>
            </a:r>
            <a:endParaRPr lang="en-AE" b="1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47242-7F4A-E09F-208C-6E27647E0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200" b="1" u="sng" dirty="0"/>
              <a:t>Transforming Leisure into High-Margin Retained Revenue</a:t>
            </a:r>
          </a:p>
          <a:p>
            <a:pPr marL="0" indent="0">
              <a:buNone/>
            </a:pPr>
            <a:r>
              <a:rPr lang="en-US" sz="2200" u="sng" dirty="0"/>
              <a:t>1. </a:t>
            </a:r>
            <a:r>
              <a:rPr lang="en-US" sz="2200" b="1" u="sng" dirty="0"/>
              <a:t>The Core Contrast Uncovered:</a:t>
            </a:r>
          </a:p>
          <a:p>
            <a:r>
              <a:rPr lang="en-US" sz="2200" b="1" dirty="0"/>
              <a:t>Annual Members:</a:t>
            </a:r>
            <a:r>
              <a:rPr lang="en-US" sz="2200" dirty="0"/>
              <a:t> Utilize </a:t>
            </a:r>
            <a:r>
              <a:rPr lang="en-US" sz="2200" dirty="0" err="1"/>
              <a:t>Cyclistic</a:t>
            </a:r>
            <a:r>
              <a:rPr lang="en-US" sz="2200" dirty="0"/>
              <a:t> as an essential point-to-point </a:t>
            </a:r>
            <a:r>
              <a:rPr lang="en-US" sz="2200" b="1" dirty="0"/>
              <a:t>utility</a:t>
            </a:r>
            <a:r>
              <a:rPr lang="en-US" sz="2200" dirty="0"/>
              <a:t> for occupational commuting.</a:t>
            </a:r>
          </a:p>
          <a:p>
            <a:r>
              <a:rPr lang="en-US" sz="2200" b="1" dirty="0"/>
              <a:t>Casual Riders:</a:t>
            </a:r>
            <a:r>
              <a:rPr lang="en-US" sz="2200" dirty="0"/>
              <a:t> Leverage the system as a premium </a:t>
            </a:r>
            <a:r>
              <a:rPr lang="en-US" sz="2200" b="1" dirty="0"/>
              <a:t>leisure and experiential</a:t>
            </a:r>
            <a:r>
              <a:rPr lang="en-US" sz="2200" dirty="0"/>
              <a:t> asset. </a:t>
            </a:r>
          </a:p>
          <a:p>
            <a:pPr marL="0" indent="0">
              <a:buNone/>
            </a:pPr>
            <a:r>
              <a:rPr lang="en-US" sz="2200" u="sng" dirty="0"/>
              <a:t>2. </a:t>
            </a:r>
            <a:r>
              <a:rPr lang="en-US" sz="2200" b="1" u="sng" dirty="0"/>
              <a:t>Strategic ROI:</a:t>
            </a:r>
            <a:r>
              <a:rPr lang="en-US" sz="2200" dirty="0"/>
              <a:t> Transitioning from broad, generic brand awareness to precise behavioral conversion unlocks a predictable, compounding revenue stream.</a:t>
            </a:r>
          </a:p>
          <a:p>
            <a:pPr marL="0" indent="0">
              <a:buNone/>
            </a:pPr>
            <a:r>
              <a:rPr lang="en-AE" sz="2200" u="sng" dirty="0"/>
              <a:t>3. </a:t>
            </a:r>
            <a:r>
              <a:rPr lang="en-US" sz="2200" b="1" u="sng" dirty="0"/>
              <a:t>The Next Step:</a:t>
            </a:r>
            <a:r>
              <a:rPr lang="en-US" sz="2200" dirty="0"/>
              <a:t> Implementing these tailored digital strategies, loyalty hooks, and customized packages will successfully convert casual riders into high-margin annual members, ensuring the long-term profitability and sustainable growth of </a:t>
            </a:r>
            <a:r>
              <a:rPr lang="en-US" sz="2200" dirty="0" err="1"/>
              <a:t>Cyclistic</a:t>
            </a:r>
            <a:r>
              <a:rPr lang="en-US" sz="2200" dirty="0"/>
              <a:t>. </a:t>
            </a:r>
            <a:endParaRPr lang="en-AE" sz="2200" dirty="0"/>
          </a:p>
        </p:txBody>
      </p:sp>
    </p:spTree>
    <p:extLst>
      <p:ext uri="{BB962C8B-B14F-4D97-AF65-F5344CB8AC3E}">
        <p14:creationId xmlns:p14="http://schemas.microsoft.com/office/powerpoint/2010/main" val="26966392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050" name="Picture 2" descr="Thank you presentation images">
            <a:extLst>
              <a:ext uri="{FF2B5EF4-FFF2-40B4-BE49-F238E27FC236}">
                <a16:creationId xmlns:a16="http://schemas.microsoft.com/office/drawing/2014/main" id="{EBED7AA3-027F-E665-7E2E-D9F253B00CA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98" b="20316"/>
          <a:stretch>
            <a:fillRect/>
          </a:stretch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0916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1418</Words>
  <Application>Microsoft Office PowerPoint</Application>
  <PresentationFormat>Widescreen</PresentationFormat>
  <Paragraphs>87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Cyclistic Bike-Share: Data-Driven Conversion Strategy Understanding User Behavior to Drive High-Margin Membership Growth  </vt:lpstr>
      <vt:lpstr>🎯 The Mission &amp; Business Task</vt:lpstr>
      <vt:lpstr>⚙️ Data Pipeline &amp; Technical Rigor</vt:lpstr>
      <vt:lpstr>1st Dashboard</vt:lpstr>
      <vt:lpstr>Key Insights — Volume, Duration, and Fleet Preferences (1st Dashboard)</vt:lpstr>
      <vt:lpstr>2nd Dashboard</vt:lpstr>
      <vt:lpstr>Key Insights — Ride Duration, Weekly Volume, and Monthly Trends (2nd Dashboard)</vt:lpstr>
      <vt:lpstr>3rd Dashboard</vt:lpstr>
      <vt:lpstr>Key Insights — Hourly Ride Length Dynamics</vt:lpstr>
      <vt:lpstr>🚀 Strategic Playbook Part 1 — Product &amp; Packaging</vt:lpstr>
      <vt:lpstr>🚀 Strategic Playbook Part 2 — Engagement &amp; Marketing</vt:lpstr>
      <vt:lpstr>Conclusion: The Bottom Line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Das, Pritesh</dc:creator>
  <cp:lastModifiedBy>Das, Pritesh</cp:lastModifiedBy>
  <cp:revision>3</cp:revision>
  <cp:lastPrinted>2026-06-01T06:21:39Z</cp:lastPrinted>
  <dcterms:created xsi:type="dcterms:W3CDTF">2026-06-01T05:24:02Z</dcterms:created>
  <dcterms:modified xsi:type="dcterms:W3CDTF">2026-06-01T07:31:02Z</dcterms:modified>
</cp:coreProperties>
</file>